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8" r:id="rId2"/>
    <p:sldId id="259" r:id="rId3"/>
    <p:sldId id="260" r:id="rId4"/>
    <p:sldId id="261" r:id="rId5"/>
    <p:sldId id="262" r:id="rId6"/>
    <p:sldId id="263" r:id="rId7"/>
    <p:sldId id="265" r:id="rId8"/>
    <p:sldId id="283" r:id="rId9"/>
    <p:sldId id="266" r:id="rId10"/>
    <p:sldId id="267" r:id="rId11"/>
    <p:sldId id="268" r:id="rId12"/>
    <p:sldId id="269" r:id="rId13"/>
    <p:sldId id="270" r:id="rId14"/>
    <p:sldId id="271" r:id="rId15"/>
    <p:sldId id="284" r:id="rId16"/>
    <p:sldId id="285" r:id="rId17"/>
    <p:sldId id="286" r:id="rId18"/>
    <p:sldId id="287" r:id="rId19"/>
    <p:sldId id="288" r:id="rId20"/>
    <p:sldId id="272" r:id="rId21"/>
    <p:sldId id="282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46" d="100"/>
          <a:sy n="46" d="100"/>
        </p:scale>
        <p:origin x="53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0D152-5116-4477-B784-4471F9DE729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238B9E-7321-4CBF-88F3-8A86102C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27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238B9E-7321-4CBF-88F3-8A86102C03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56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38035-145A-4A0C-86F0-D285E37A42D0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07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A768-724D-4A42-AAE7-4DDECD59825D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63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1AB55-1BF4-4334-A3A7-A47004C7131F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4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A1F35-C0CF-48F1-B9A5-08714AA4C03A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28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82CC-33A8-4B44-A52E-AF2F550DAE9D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145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F96C-05F8-425D-AC3C-8860C2E0854B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93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6FE-A55E-4754-BFBC-303C94FAE3B3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19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C7AE8-1ABC-4FB5-B8B6-D8996BE89E2D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02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6C21-BDE5-400C-AFB4-57BF5F709868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C1D91-F38A-4012-8553-ABD611013E02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95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18A7-D4A3-4906-8822-4CFF9BBC1522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8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7136F-636C-44FA-88B4-5A5CF3FA0662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No. 1     Batch No.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51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thank-you-text-message-note-39418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46493"/>
            <a:ext cx="10515600" cy="732327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254" y="1509102"/>
            <a:ext cx="10515600" cy="477739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Title : </a:t>
            </a:r>
            <a:r>
              <a:rPr lang="en-US" sz="2400" dirty="0">
                <a:solidFill>
                  <a:srgbClr val="FF0000"/>
                </a:solidFill>
              </a:rPr>
              <a:t>pH and Turbidity: Multi-Parameter Water Quality Monitoring Using Edge-Integrated Sensing Platforms</a:t>
            </a:r>
            <a:endParaRPr lang="en-IN" sz="24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PRESENTED BY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                                         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Alajangi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Keerthisree                           (22471A05E3)                                     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                                               Katari Thanmai                                   (22471A05G1)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Sonti Vineela                                      (22471A05J6)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Under the Guidance of,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M.Suneetha,</a:t>
            </a:r>
            <a:r>
              <a:rPr lang="en-US" sz="1300" dirty="0"/>
              <a:t>B.Tech.,</a:t>
            </a:r>
            <a:r>
              <a:rPr lang="en-US" sz="1300" dirty="0" err="1"/>
              <a:t>M.Tech</a:t>
            </a:r>
            <a:endParaRPr lang="en-US" sz="1300" dirty="0"/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Assistant Professor,</a:t>
            </a:r>
          </a:p>
          <a:p>
            <a:pPr marL="0" indent="0">
              <a:buNone/>
            </a:pPr>
            <a:r>
              <a:rPr lang="en-US" sz="1800" dirty="0"/>
              <a:t>                                      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Narasaraopeta Engineering College (Autonomous),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- 522 601.</a:t>
            </a:r>
          </a:p>
          <a:p>
            <a:pPr marL="0" indent="0">
              <a:buNone/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4677428" cy="671805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D0B9D-72BB-424C-95C1-6F4B9261BC8B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1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6010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and Answers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352"/>
            <a:ext cx="4677428" cy="713817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AEFE-C005-46A8-807C-4516D37FF448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39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510" y="1362357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/>
              <a:t>Water pollution has become one of the most critical global issues affecting both the environment and human health. Traditional water quality monitoring systems depend on costly IoT-based sensors, which are difficult to maintain and unsuitable for rural areas. To overcome these challenges, this project proposes a </a:t>
            </a:r>
            <a:r>
              <a:rPr lang="en-US" sz="1800" b="1" dirty="0"/>
              <a:t>software-based water quality monitoring framework</a:t>
            </a:r>
            <a:r>
              <a:rPr lang="en-US" sz="1800" dirty="0"/>
              <a:t> that works </a:t>
            </a:r>
            <a:r>
              <a:rPr lang="en-US" sz="1800" b="1" dirty="0"/>
              <a:t>without physical sensors</a:t>
            </a:r>
            <a:r>
              <a:rPr lang="en-US" sz="1800" dirty="0"/>
              <a:t>. It uses </a:t>
            </a:r>
            <a:r>
              <a:rPr lang="en-US" sz="1800" b="1" dirty="0"/>
              <a:t>publicly available datasets</a:t>
            </a:r>
            <a:r>
              <a:rPr lang="en-US" sz="1800" dirty="0"/>
              <a:t> containing physicochemical parameters such as pH, turbidity, solids, chloramines, and organic carbon. A </a:t>
            </a:r>
            <a:r>
              <a:rPr lang="en-US" sz="1800" b="1" dirty="0"/>
              <a:t>Pollution Severity Index (PSI)</a:t>
            </a:r>
            <a:r>
              <a:rPr lang="en-US" sz="1800" dirty="0"/>
              <a:t> is developed to classify water quality into different levels. Various machine learning and deep learning models — </a:t>
            </a:r>
            <a:r>
              <a:rPr lang="en-US" sz="1800" b="1" dirty="0"/>
              <a:t>Random Forest, FNN, LSTM, and GRU</a:t>
            </a:r>
            <a:r>
              <a:rPr lang="en-US" sz="1800" dirty="0"/>
              <a:t> — were trained and compared. Among them, the </a:t>
            </a:r>
            <a:r>
              <a:rPr lang="en-US" sz="1800" b="1" dirty="0"/>
              <a:t>GRU model</a:t>
            </a:r>
            <a:r>
              <a:rPr lang="en-US" sz="1800" dirty="0"/>
              <a:t> achieved the highest accuracy of </a:t>
            </a:r>
            <a:r>
              <a:rPr lang="en-US" sz="1800" b="1" dirty="0"/>
              <a:t>92%</a:t>
            </a:r>
            <a:r>
              <a:rPr lang="en-US" sz="1800" dirty="0"/>
              <a:t>, showing excellent reliability and generalization. This system provides a </a:t>
            </a:r>
            <a:r>
              <a:rPr lang="en-US" sz="1800" b="1" dirty="0"/>
              <a:t>low-cost, scalable, and sustainable solution</a:t>
            </a:r>
            <a:r>
              <a:rPr lang="en-US" sz="1800" dirty="0"/>
              <a:t> for monitoring water quality, supporting the goal of </a:t>
            </a:r>
            <a:r>
              <a:rPr lang="en-US" sz="1800" b="1" dirty="0"/>
              <a:t>Clean Water and Sanitation (SDG-6)</a:t>
            </a:r>
            <a:r>
              <a:rPr lang="en-US" sz="1800" dirty="0"/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352"/>
            <a:ext cx="4677428" cy="743054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71FD-1863-42B4-8FB7-C24025B60F93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7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0937"/>
            <a:ext cx="4677428" cy="743054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8D23-BCBA-4418-9B10-B0B12D9E606A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4</a:t>
            </a:fld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528EDA5-104E-EBA6-DEF3-240DEACE21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9460" y="1559249"/>
            <a:ext cx="10354340" cy="4621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Background:</a:t>
            </a:r>
            <a:br>
              <a:rPr lang="en-US" sz="1800" dirty="0"/>
            </a:br>
            <a:r>
              <a:rPr lang="en-US" sz="1800" dirty="0"/>
              <a:t>Water is essential for life, yet pollution caused by industrialization, urbanization, and climate change has made clean water access a global challenge.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Motivation:</a:t>
            </a:r>
            <a:br>
              <a:rPr lang="en-US" sz="1800" dirty="0"/>
            </a:br>
            <a:r>
              <a:rPr lang="en-US" sz="1800" dirty="0"/>
              <a:t>Traditional water monitoring systems use IoT-based physical sensors that are expensive, difficult to maintain, and not suitable for rural or low-resource areas.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Problem with Existing Systems:</a:t>
            </a:r>
            <a:br>
              <a:rPr lang="en-US" sz="1800" dirty="0"/>
            </a:br>
            <a:r>
              <a:rPr lang="en-US" sz="1800" dirty="0"/>
              <a:t>Most existing systems measure only a few parameters like pH and turbidity and require constant hardware maintenance and internet connectivity.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Proposed Solution:</a:t>
            </a:r>
            <a:br>
              <a:rPr lang="en-US" sz="1800" dirty="0"/>
            </a:br>
            <a:r>
              <a:rPr lang="en-US" sz="1800" dirty="0"/>
              <a:t>This project introduces a </a:t>
            </a:r>
            <a:r>
              <a:rPr lang="en-US" sz="1800" b="1" dirty="0"/>
              <a:t>sensor-free, software-based water quality monitoring framework</a:t>
            </a:r>
            <a:r>
              <a:rPr lang="en-US" sz="1800" dirty="0"/>
              <a:t> using </a:t>
            </a:r>
            <a:r>
              <a:rPr lang="en-US" sz="1800" b="1" dirty="0"/>
              <a:t>machine learning techniques</a:t>
            </a:r>
            <a:r>
              <a:rPr lang="en-US" sz="1800" dirty="0"/>
              <a:t> and </a:t>
            </a:r>
            <a:r>
              <a:rPr lang="en-US" sz="1800" b="1" dirty="0"/>
              <a:t>publicly available datasets</a:t>
            </a:r>
            <a:r>
              <a:rPr lang="en-US" sz="18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Importance:</a:t>
            </a:r>
            <a:br>
              <a:rPr lang="en-US" sz="1800" dirty="0"/>
            </a:br>
            <a:r>
              <a:rPr lang="en-US" sz="1800" dirty="0"/>
              <a:t>The system provides an affordable, scalable, and reliable solution for predicting water quality, supporting the </a:t>
            </a:r>
            <a:r>
              <a:rPr lang="en-US" sz="1800" b="1" dirty="0"/>
              <a:t>United Nations Sustainable Development Goal 6 (Clean Water and Sanitation)</a:t>
            </a:r>
            <a:r>
              <a:rPr lang="en-US" sz="18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46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523" y="535893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5883586"/>
              </p:ext>
            </p:extLst>
          </p:nvPr>
        </p:nvGraphicFramePr>
        <p:xfrm>
          <a:off x="855406" y="1278947"/>
          <a:ext cx="10535717" cy="476807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27067">
                  <a:extLst>
                    <a:ext uri="{9D8B030D-6E8A-4147-A177-3AD203B41FA5}">
                      <a16:colId xmlns:a16="http://schemas.microsoft.com/office/drawing/2014/main" val="2070713702"/>
                    </a:ext>
                  </a:extLst>
                </a:gridCol>
                <a:gridCol w="2278625">
                  <a:extLst>
                    <a:ext uri="{9D8B030D-6E8A-4147-A177-3AD203B41FA5}">
                      <a16:colId xmlns:a16="http://schemas.microsoft.com/office/drawing/2014/main" val="264225470"/>
                    </a:ext>
                  </a:extLst>
                </a:gridCol>
                <a:gridCol w="1506005">
                  <a:extLst>
                    <a:ext uri="{9D8B030D-6E8A-4147-A177-3AD203B41FA5}">
                      <a16:colId xmlns:a16="http://schemas.microsoft.com/office/drawing/2014/main" val="3072976218"/>
                    </a:ext>
                  </a:extLst>
                </a:gridCol>
                <a:gridCol w="1506005">
                  <a:extLst>
                    <a:ext uri="{9D8B030D-6E8A-4147-A177-3AD203B41FA5}">
                      <a16:colId xmlns:a16="http://schemas.microsoft.com/office/drawing/2014/main" val="1539970045"/>
                    </a:ext>
                  </a:extLst>
                </a:gridCol>
                <a:gridCol w="1506005">
                  <a:extLst>
                    <a:ext uri="{9D8B030D-6E8A-4147-A177-3AD203B41FA5}">
                      <a16:colId xmlns:a16="http://schemas.microsoft.com/office/drawing/2014/main" val="2133008543"/>
                    </a:ext>
                  </a:extLst>
                </a:gridCol>
                <a:gridCol w="1506005">
                  <a:extLst>
                    <a:ext uri="{9D8B030D-6E8A-4147-A177-3AD203B41FA5}">
                      <a16:colId xmlns:a16="http://schemas.microsoft.com/office/drawing/2014/main" val="167091109"/>
                    </a:ext>
                  </a:extLst>
                </a:gridCol>
                <a:gridCol w="1506005">
                  <a:extLst>
                    <a:ext uri="{9D8B030D-6E8A-4147-A177-3AD203B41FA5}">
                      <a16:colId xmlns:a16="http://schemas.microsoft.com/office/drawing/2014/main" val="1117400812"/>
                    </a:ext>
                  </a:extLst>
                </a:gridCol>
              </a:tblGrid>
              <a:tr h="575812"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Journal Name &amp; 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Methodology Adopted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Key Findings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Gaps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4691251"/>
                  </a:ext>
                </a:extLst>
              </a:tr>
              <a:tr h="1575906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Machine Learning-Based Water Quality Classification Assessment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Chen et al.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Water Journal,2024</a:t>
                      </a:r>
                      <a:endParaRPr lang="en-IN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 Random Forest, SVM, and </a:t>
                      </a:r>
                      <a:r>
                        <a:rPr lang="en-US" sz="1400" dirty="0" err="1"/>
                        <a:t>XGBoost</a:t>
                      </a:r>
                      <a:r>
                        <a:rPr lang="en-US" sz="1400" dirty="0"/>
                        <a:t> for classification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Achieved 88% accuracy in surface water analysis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Focused on single parameter, lacks scalability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050482"/>
                  </a:ext>
                </a:extLst>
              </a:tr>
              <a:tr h="1454813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Hybrid Deep Learning Models for Seasonal Water Quality Prediction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Paneru</a:t>
                      </a:r>
                      <a:r>
                        <a:rPr lang="en-IN" sz="1400" dirty="0"/>
                        <a:t> et al.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 dirty="0" err="1"/>
                        <a:t>arXiv</a:t>
                      </a:r>
                      <a:r>
                        <a:rPr lang="en-IN" sz="1400" i="1" dirty="0"/>
                        <a:t> preprint</a:t>
                      </a:r>
                      <a:r>
                        <a:rPr lang="en-IN" sz="1400" dirty="0"/>
                        <a:t>, 2024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Combined CNN–RNN with LIME for interpretability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Improved regression accuracy and interpretability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Poor cross-regional generalization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378429"/>
                  </a:ext>
                </a:extLst>
              </a:tr>
              <a:tr h="1018739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Machine Learning Framework for Predicting Water Quality Classification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Sangwan &amp; Bhardwaj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 dirty="0"/>
                        <a:t>Water Practice &amp; Technology</a:t>
                      </a:r>
                      <a:r>
                        <a:rPr lang="en-IN" sz="1400" dirty="0"/>
                        <a:t>, 2024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 RF, SVM, and </a:t>
                      </a:r>
                      <a:r>
                        <a:rPr lang="en-US" sz="1400" dirty="0" err="1"/>
                        <a:t>XGBoost</a:t>
                      </a:r>
                      <a:r>
                        <a:rPr lang="en-US" sz="1400" dirty="0"/>
                        <a:t> for WQI classification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Achieved 89% accuracy on multisource data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 computational cost, not suited for low-resource areas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67372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4305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AC66-AD3B-4745-9697-C6B196945953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11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523" y="535893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7487744"/>
              </p:ext>
            </p:extLst>
          </p:nvPr>
        </p:nvGraphicFramePr>
        <p:xfrm>
          <a:off x="951721" y="1414818"/>
          <a:ext cx="10546703" cy="330849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33709">
                  <a:extLst>
                    <a:ext uri="{9D8B030D-6E8A-4147-A177-3AD203B41FA5}">
                      <a16:colId xmlns:a16="http://schemas.microsoft.com/office/drawing/2014/main" val="2070713702"/>
                    </a:ext>
                  </a:extLst>
                </a:gridCol>
                <a:gridCol w="2279634">
                  <a:extLst>
                    <a:ext uri="{9D8B030D-6E8A-4147-A177-3AD203B41FA5}">
                      <a16:colId xmlns:a16="http://schemas.microsoft.com/office/drawing/2014/main" val="264225470"/>
                    </a:ext>
                  </a:extLst>
                </a:gridCol>
                <a:gridCol w="1506672">
                  <a:extLst>
                    <a:ext uri="{9D8B030D-6E8A-4147-A177-3AD203B41FA5}">
                      <a16:colId xmlns:a16="http://schemas.microsoft.com/office/drawing/2014/main" val="3072976218"/>
                    </a:ext>
                  </a:extLst>
                </a:gridCol>
                <a:gridCol w="1506672">
                  <a:extLst>
                    <a:ext uri="{9D8B030D-6E8A-4147-A177-3AD203B41FA5}">
                      <a16:colId xmlns:a16="http://schemas.microsoft.com/office/drawing/2014/main" val="1539970045"/>
                    </a:ext>
                  </a:extLst>
                </a:gridCol>
                <a:gridCol w="1506672">
                  <a:extLst>
                    <a:ext uri="{9D8B030D-6E8A-4147-A177-3AD203B41FA5}">
                      <a16:colId xmlns:a16="http://schemas.microsoft.com/office/drawing/2014/main" val="2133008543"/>
                    </a:ext>
                  </a:extLst>
                </a:gridCol>
                <a:gridCol w="1506672">
                  <a:extLst>
                    <a:ext uri="{9D8B030D-6E8A-4147-A177-3AD203B41FA5}">
                      <a16:colId xmlns:a16="http://schemas.microsoft.com/office/drawing/2014/main" val="167091109"/>
                    </a:ext>
                  </a:extLst>
                </a:gridCol>
                <a:gridCol w="1506672">
                  <a:extLst>
                    <a:ext uri="{9D8B030D-6E8A-4147-A177-3AD203B41FA5}">
                      <a16:colId xmlns:a16="http://schemas.microsoft.com/office/drawing/2014/main" val="1117400812"/>
                    </a:ext>
                  </a:extLst>
                </a:gridCol>
              </a:tblGrid>
              <a:tr h="534621"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Journal Name &amp; 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Methodology Adopted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Key Findings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Gaps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4691251"/>
                  </a:ext>
                </a:extLst>
              </a:tr>
              <a:tr h="1266207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Interpretable ML-Based Quantification of Water Pollution 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Zhang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i="1" dirty="0"/>
                        <a:t>Water Journal</a:t>
                      </a:r>
                      <a:r>
                        <a:rPr lang="en-IN" sz="1400" dirty="0"/>
                        <a:t>, 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Applied </a:t>
                      </a:r>
                      <a:r>
                        <a:rPr lang="en-US" sz="1400" dirty="0" err="1"/>
                        <a:t>XGBoost</a:t>
                      </a:r>
                      <a:r>
                        <a:rPr lang="en-US" sz="1400" dirty="0"/>
                        <a:t> with SHAP for feature importance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Applied </a:t>
                      </a:r>
                      <a:r>
                        <a:rPr lang="en-US" sz="1400" dirty="0" err="1"/>
                        <a:t>XGBoost</a:t>
                      </a:r>
                      <a:r>
                        <a:rPr lang="en-US" sz="1400" dirty="0"/>
                        <a:t> with SHAP for feature importance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Limited to groundwater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662257"/>
                  </a:ext>
                </a:extLst>
              </a:tr>
              <a:tr h="1463172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Open Sensing System for Low-Cost Water Quality 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Quevy</a:t>
                      </a:r>
                      <a:r>
                        <a:rPr lang="en-IN" sz="1400" dirty="0"/>
                        <a:t>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i="1" dirty="0"/>
                        <a:t>IEEE Open Journal of the Industrial Electronics Society</a:t>
                      </a:r>
                      <a:r>
                        <a:rPr lang="en-US" sz="1400" dirty="0"/>
                        <a:t>, 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Developed an open-source IoT buoy for real-time 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Enabled affordable, energy-efficient data collection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Still depends on physical sensors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392490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4305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D31BD-1695-4179-88F1-356A4C7098BA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9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523" y="535893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430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523" y="1414818"/>
            <a:ext cx="10515600" cy="45140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Research Gaps Identified</a:t>
            </a:r>
          </a:p>
          <a:p>
            <a:r>
              <a:rPr lang="en-US" sz="1800" dirty="0"/>
              <a:t>Most existing water quality monitoring systems depend heavily on </a:t>
            </a:r>
            <a:r>
              <a:rPr lang="en-US" sz="1800" b="1" dirty="0"/>
              <a:t>physical IoT sensors</a:t>
            </a:r>
            <a:r>
              <a:rPr lang="en-US" sz="1800" dirty="0"/>
              <a:t>, making them costly and difficult to maintain.</a:t>
            </a:r>
          </a:p>
          <a:p>
            <a:r>
              <a:rPr lang="en-US" sz="1800" dirty="0"/>
              <a:t>Many studies consider </a:t>
            </a:r>
            <a:r>
              <a:rPr lang="en-US" sz="1800" b="1" dirty="0"/>
              <a:t>only one or two parameters</a:t>
            </a:r>
            <a:r>
              <a:rPr lang="en-US" sz="1800" dirty="0"/>
              <a:t> (like pH or temperature) instead of analyzing multiple physicochemical parameters together.</a:t>
            </a:r>
          </a:p>
          <a:p>
            <a:r>
              <a:rPr lang="en-US" sz="1800" dirty="0"/>
              <a:t>Machine learning models used in previous research often show </a:t>
            </a:r>
            <a:r>
              <a:rPr lang="en-US" sz="1800" b="1" dirty="0"/>
              <a:t>poor generalization</a:t>
            </a:r>
            <a:r>
              <a:rPr lang="en-US" sz="1800" dirty="0"/>
              <a:t> when applied to new or unseen datasets.</a:t>
            </a:r>
          </a:p>
          <a:p>
            <a:r>
              <a:rPr lang="en-US" sz="1800" dirty="0"/>
              <a:t>Traditional methods lack a </a:t>
            </a:r>
            <a:r>
              <a:rPr lang="en-US" sz="1800" b="1" dirty="0"/>
              <a:t>unified index</a:t>
            </a:r>
            <a:r>
              <a:rPr lang="en-US" sz="1800" dirty="0"/>
              <a:t> to combine multiple parameters into a single pollution score.</a:t>
            </a:r>
          </a:p>
          <a:p>
            <a:r>
              <a:rPr lang="en-US" sz="1800" dirty="0"/>
              <a:t>Existing approaches are not suitable for </a:t>
            </a:r>
            <a:r>
              <a:rPr lang="en-US" sz="1800" b="1" dirty="0"/>
              <a:t>rural or low-resource areas</a:t>
            </a:r>
            <a:r>
              <a:rPr lang="en-US" sz="1800" dirty="0"/>
              <a:t> due to their high setup cost and maintenance requirements.</a:t>
            </a:r>
          </a:p>
          <a:p>
            <a:r>
              <a:rPr lang="en-US" sz="1800" dirty="0"/>
              <a:t>Limited research is available on a </a:t>
            </a:r>
            <a:r>
              <a:rPr lang="en-US" sz="1800" b="1" dirty="0"/>
              <a:t>sensor-free, fully data-driven</a:t>
            </a:r>
            <a:r>
              <a:rPr lang="en-US" sz="1800" dirty="0"/>
              <a:t> water quality prediction system.</a:t>
            </a:r>
          </a:p>
          <a:p>
            <a:pPr lvl="3">
              <a:buFont typeface="Wingdings" panose="05000000000000000000" pitchFamily="2" charset="2"/>
              <a:buChar char="Ø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60AFA-DC70-42E5-BA7B-E5FE74E4610D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5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73735-E562-B85D-5847-C5F6F1DA8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Research Gaps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153EA-0973-852C-C9D0-B71CEB70C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86005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b="1" dirty="0"/>
              <a:t>How Our Project Addresses These Gaps</a:t>
            </a:r>
          </a:p>
          <a:p>
            <a:r>
              <a:rPr lang="en-US" sz="1800" dirty="0"/>
              <a:t>Introduces a </a:t>
            </a:r>
            <a:r>
              <a:rPr lang="en-US" sz="1800" b="1" dirty="0"/>
              <a:t>sensor-free water quality monitoring system</a:t>
            </a:r>
            <a:r>
              <a:rPr lang="en-US" sz="1800" dirty="0"/>
              <a:t> based entirely on machine learning and publicly available datasets.</a:t>
            </a:r>
          </a:p>
          <a:p>
            <a:r>
              <a:rPr lang="en-US" sz="1800" dirty="0"/>
              <a:t>Considers </a:t>
            </a:r>
            <a:r>
              <a:rPr lang="en-US" sz="1800" b="1" dirty="0"/>
              <a:t>multiple key parameters</a:t>
            </a:r>
            <a:r>
              <a:rPr lang="en-US" sz="1800" dirty="0"/>
              <a:t> (pH, turbidity, solids, chloramines, organic carbon) for accurate multi-parameter analysis.</a:t>
            </a:r>
          </a:p>
          <a:p>
            <a:r>
              <a:rPr lang="en-US" sz="1800" dirty="0"/>
              <a:t>Uses advanced deep learning models like </a:t>
            </a:r>
            <a:r>
              <a:rPr lang="en-US" sz="1800" b="1" dirty="0"/>
              <a:t>GRU</a:t>
            </a:r>
            <a:r>
              <a:rPr lang="en-US" sz="1800" dirty="0"/>
              <a:t>, which provide </a:t>
            </a:r>
            <a:r>
              <a:rPr lang="en-US" sz="1800" b="1" dirty="0"/>
              <a:t>92% accuracy</a:t>
            </a:r>
            <a:r>
              <a:rPr lang="en-US" sz="1800" dirty="0"/>
              <a:t> and strong generalization across different datasets.</a:t>
            </a:r>
          </a:p>
          <a:p>
            <a:r>
              <a:rPr lang="en-US" sz="1800" dirty="0"/>
              <a:t>Develops a </a:t>
            </a:r>
            <a:r>
              <a:rPr lang="en-US" sz="1800" b="1" dirty="0"/>
              <a:t>Pollution Severity Index (PSI)</a:t>
            </a:r>
            <a:r>
              <a:rPr lang="en-US" sz="1800" dirty="0"/>
              <a:t> to combine all parameters into one meaningful pollution score.</a:t>
            </a:r>
          </a:p>
          <a:p>
            <a:r>
              <a:rPr lang="en-US" sz="1800" dirty="0"/>
              <a:t>Offers a </a:t>
            </a:r>
            <a:r>
              <a:rPr lang="en-US" sz="1800" b="1" dirty="0"/>
              <a:t>low-cost, scalable, and maintenance-free</a:t>
            </a:r>
            <a:r>
              <a:rPr lang="en-US" sz="1800" dirty="0"/>
              <a:t> solution suitable for rural and low-resource regions.</a:t>
            </a:r>
          </a:p>
          <a:p>
            <a:r>
              <a:rPr lang="en-US" sz="1800" dirty="0"/>
              <a:t>Ensures a </a:t>
            </a:r>
            <a:r>
              <a:rPr lang="en-US" sz="1800" b="1" dirty="0"/>
              <a:t>sustainable and data-driven approach</a:t>
            </a:r>
            <a:r>
              <a:rPr lang="en-US" sz="1800" dirty="0"/>
              <a:t> aligned with SDG-6 (Clean Water and Sanitation).</a:t>
            </a:r>
          </a:p>
          <a:p>
            <a:endParaRPr lang="en-IN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A2E2C-68E2-186D-0536-0F590F31D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A768-724D-4A42-AAE7-4DDECD59825D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E7592-9359-B51F-8876-F96024EBA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2     Batch No.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0BDBF-764D-AF99-6286-56EFA644B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8B7673-979A-CA64-BD2A-98BEF1C3A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763"/>
            <a:ext cx="4676037" cy="7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84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523" y="535893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430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523" y="1414817"/>
            <a:ext cx="10515600" cy="490728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Need for Affordable Monitoring:</a:t>
            </a:r>
            <a:br>
              <a:rPr lang="en-US" sz="1800" dirty="0"/>
            </a:br>
            <a:r>
              <a:rPr lang="en-US" sz="1800" dirty="0"/>
              <a:t>Existing water quality monitoring systems rely on costly IoT sensors and hardware components, making them unaffordable for rural and low-income regions.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Maintenance Challenges:</a:t>
            </a:r>
            <a:br>
              <a:rPr lang="en-US" sz="1800" dirty="0"/>
            </a:br>
            <a:r>
              <a:rPr lang="en-US" sz="1800" dirty="0"/>
              <a:t>Sensor-based systems require regular calibration, maintenance, and connectivity, which limits their large-scale deployment.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Limited Data Coverage:</a:t>
            </a:r>
            <a:br>
              <a:rPr lang="en-US" sz="1800" dirty="0"/>
            </a:br>
            <a:r>
              <a:rPr lang="en-US" sz="1800" dirty="0"/>
              <a:t>Most existing models analyze only a few parameters, such as pH or turbidity, instead of considering multiple influencing factors.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Lack of Scalability:</a:t>
            </a:r>
            <a:br>
              <a:rPr lang="en-US" sz="1800" dirty="0"/>
            </a:br>
            <a:r>
              <a:rPr lang="en-US" sz="1800" dirty="0"/>
              <a:t>Traditional methods are not easily adaptable for real-time, large-scale water quality prediction across different environments.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Accuracy and Reliability Issues:</a:t>
            </a:r>
            <a:br>
              <a:rPr lang="en-US" sz="1800" dirty="0"/>
            </a:br>
            <a:r>
              <a:rPr lang="en-US" sz="1800" dirty="0"/>
              <a:t>Existing models often suffer from overfitting and lack reliability when predicting unseen water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Research Gap Addressed:</a:t>
            </a:r>
            <a:br>
              <a:rPr lang="en-US" sz="1800" dirty="0"/>
            </a:br>
            <a:r>
              <a:rPr lang="en-US" sz="1800" dirty="0"/>
              <a:t>This project aims to develop a </a:t>
            </a:r>
            <a:r>
              <a:rPr lang="en-US" sz="1800" b="1" dirty="0"/>
              <a:t>sensor-free, machine learning-based system</a:t>
            </a:r>
            <a:r>
              <a:rPr lang="en-US" sz="1800" dirty="0"/>
              <a:t> that predicts water quality using </a:t>
            </a:r>
            <a:r>
              <a:rPr lang="en-US" sz="1800" b="1" dirty="0"/>
              <a:t>publicly available datasets</a:t>
            </a:r>
            <a:r>
              <a:rPr lang="en-US" sz="1800" dirty="0"/>
              <a:t>, achieving high accuracy and low cost through the </a:t>
            </a:r>
            <a:r>
              <a:rPr lang="en-US" sz="1800" b="1" dirty="0"/>
              <a:t>GRU model</a:t>
            </a:r>
            <a:r>
              <a:rPr lang="en-US" sz="1800" dirty="0"/>
              <a:t>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2CE1-20D9-45A9-BD2D-748D520C4C4E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60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523" y="535893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430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523" y="1495754"/>
            <a:ext cx="10515600" cy="482635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Main Objective:</a:t>
            </a:r>
            <a:br>
              <a:rPr lang="en-US" sz="1800" dirty="0"/>
            </a:br>
            <a:r>
              <a:rPr lang="en-US" sz="1800" dirty="0"/>
              <a:t>To develop a </a:t>
            </a:r>
            <a:r>
              <a:rPr lang="en-US" sz="1800" b="1" dirty="0"/>
              <a:t>sensor-free, machine learning-based water quality monitoring system</a:t>
            </a:r>
            <a:r>
              <a:rPr lang="en-US" sz="1800" dirty="0"/>
              <a:t> that predicts pollution levels using publicly available datasets.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Specific Objectives:</a:t>
            </a:r>
            <a:endParaRPr lang="en-US" sz="1800" dirty="0"/>
          </a:p>
          <a:p>
            <a:r>
              <a:rPr lang="en-US" sz="1800" b="1" dirty="0"/>
              <a:t>1. Data Collection &amp; Preprocessing:</a:t>
            </a:r>
            <a:br>
              <a:rPr lang="en-US" sz="1800" dirty="0"/>
            </a:br>
            <a:r>
              <a:rPr lang="en-US" sz="1800" dirty="0"/>
              <a:t>To collect and preprocess water quality datasets containing key parameters such as </a:t>
            </a:r>
            <a:r>
              <a:rPr lang="en-US" sz="1800" b="1" dirty="0"/>
              <a:t>pH, turbidity, chloramines, solids, and organic carbon</a:t>
            </a:r>
            <a:r>
              <a:rPr lang="en-US" sz="1800" dirty="0"/>
              <a:t>.</a:t>
            </a:r>
          </a:p>
          <a:p>
            <a:r>
              <a:rPr lang="en-US" sz="1800" b="1" dirty="0"/>
              <a:t>2. Pollution Severity Index (PSI):</a:t>
            </a:r>
            <a:br>
              <a:rPr lang="en-US" sz="1800" dirty="0"/>
            </a:br>
            <a:r>
              <a:rPr lang="en-US" sz="1800" dirty="0"/>
              <a:t>To design a </a:t>
            </a:r>
            <a:r>
              <a:rPr lang="en-US" sz="1800" b="1" dirty="0"/>
              <a:t>Pollution Severity Index</a:t>
            </a:r>
            <a:r>
              <a:rPr lang="en-US" sz="1800" dirty="0"/>
              <a:t> that combines multiple water parameters to classify water quality into different levels (Low, Moderate, Severe, Critical).</a:t>
            </a:r>
          </a:p>
          <a:p>
            <a:r>
              <a:rPr lang="en-US" sz="1800" b="1" dirty="0"/>
              <a:t>3. Model Development &amp; Comparison:</a:t>
            </a:r>
            <a:br>
              <a:rPr lang="en-US" sz="1800" dirty="0"/>
            </a:br>
            <a:r>
              <a:rPr lang="en-US" sz="1800" dirty="0"/>
              <a:t>To train and compare different machine learning and deep learning algorithms such as </a:t>
            </a:r>
            <a:r>
              <a:rPr lang="en-US" sz="1800" b="1" dirty="0"/>
              <a:t>Random Forest, FNN, LSTM, and GRU</a:t>
            </a:r>
            <a:r>
              <a:rPr lang="en-US" sz="1800" dirty="0"/>
              <a:t> for accuracy and reliability.</a:t>
            </a:r>
          </a:p>
          <a:p>
            <a:r>
              <a:rPr lang="en-US" sz="1800" b="1" dirty="0"/>
              <a:t>4. Real-Time Applicability:</a:t>
            </a:r>
            <a:br>
              <a:rPr lang="en-US" sz="1800" dirty="0"/>
            </a:br>
            <a:r>
              <a:rPr lang="en-US" sz="1800" dirty="0"/>
              <a:t>To build a </a:t>
            </a:r>
            <a:r>
              <a:rPr lang="en-US" sz="1800" b="1" dirty="0"/>
              <a:t>low-cost, scalable, and sustainable</a:t>
            </a:r>
            <a:r>
              <a:rPr lang="en-US" sz="1800" dirty="0"/>
              <a:t> system suitable for </a:t>
            </a:r>
            <a:r>
              <a:rPr lang="en-US" sz="1800" b="1" dirty="0"/>
              <a:t>rural and resource-limited areas</a:t>
            </a:r>
            <a:r>
              <a:rPr lang="en-US" sz="18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D8F7-04B2-489C-9F66-69101F3283B8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8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343" y="743398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2207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494C-08F1-4523-8BA1-AC7282782D17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DA37A8-A6A2-074B-5CB2-2B95CADDEF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594" y="1936955"/>
            <a:ext cx="8259097" cy="428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04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49164"/>
          </a:xfrm>
        </p:spPr>
        <p:txBody>
          <a:bodyPr>
            <a:normAutofit/>
          </a:bodyPr>
          <a:lstStyle/>
          <a:p>
            <a:r>
              <a:rPr lang="en-US" sz="1800" b="1" dirty="0"/>
              <a:t>Data Collection &amp; Preprocessing:</a:t>
            </a:r>
            <a:br>
              <a:rPr lang="en-US" sz="1800" dirty="0"/>
            </a:br>
            <a:r>
              <a:rPr lang="en-US" sz="1800" dirty="0"/>
              <a:t>Collected publicly available water quality datasets and cleaned, normalized them for model training.</a:t>
            </a:r>
          </a:p>
          <a:p>
            <a:r>
              <a:rPr lang="en-US" sz="1800" b="1" dirty="0"/>
              <a:t>Feature Engineering:</a:t>
            </a:r>
            <a:br>
              <a:rPr lang="en-US" sz="1800" dirty="0"/>
            </a:br>
            <a:r>
              <a:rPr lang="en-US" sz="1800" dirty="0"/>
              <a:t>Selected key parameters like pH, turbidity, solids, and chloramines to develop a </a:t>
            </a:r>
            <a:r>
              <a:rPr lang="en-US" sz="1800" b="1" dirty="0"/>
              <a:t>Pollution Severity Index (PSI)</a:t>
            </a:r>
            <a:r>
              <a:rPr lang="en-US" sz="1800" dirty="0"/>
              <a:t>.</a:t>
            </a:r>
          </a:p>
          <a:p>
            <a:r>
              <a:rPr lang="en-US" sz="1800" b="1" dirty="0"/>
              <a:t>Model Training &amp; Evaluation:</a:t>
            </a:r>
            <a:br>
              <a:rPr lang="en-US" sz="1800" dirty="0"/>
            </a:br>
            <a:r>
              <a:rPr lang="en-US" sz="1800" dirty="0"/>
              <a:t>Trained multiple models — </a:t>
            </a:r>
            <a:r>
              <a:rPr lang="en-US" sz="1800" b="1" dirty="0"/>
              <a:t>Random Forest, FNN, LSTM, and GRU</a:t>
            </a:r>
            <a:r>
              <a:rPr lang="en-US" sz="1800" dirty="0"/>
              <a:t> — and evaluated their performance using accuracy and F1-score.</a:t>
            </a:r>
          </a:p>
          <a:p>
            <a:r>
              <a:rPr lang="en-US" sz="1800" b="1" dirty="0"/>
              <a:t>Final Model Selection:</a:t>
            </a:r>
            <a:br>
              <a:rPr lang="en-US" sz="1800" dirty="0"/>
            </a:br>
            <a:r>
              <a:rPr lang="en-US" sz="1800" dirty="0"/>
              <a:t>The </a:t>
            </a:r>
            <a:r>
              <a:rPr lang="en-US" sz="1800" b="1" dirty="0"/>
              <a:t>GRU model</a:t>
            </a:r>
            <a:r>
              <a:rPr lang="en-US" sz="1800" dirty="0"/>
              <a:t> achieved the best results with </a:t>
            </a:r>
            <a:r>
              <a:rPr lang="en-US" sz="1800" b="1" dirty="0"/>
              <a:t>92% accuracy</a:t>
            </a:r>
            <a:r>
              <a:rPr lang="en-US" sz="1800" dirty="0"/>
              <a:t>, making it the final model for water quality prediction.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22072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09D1-3C3E-4204-B69D-9F8A315101C2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921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216" y="4634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0167" y="1359094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22072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D8BD5-4E47-4346-BB9E-C44EDA94BF1E}" type="datetime1">
              <a:rPr lang="en-US" smtClean="0"/>
              <a:t>12/4/2025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CF9F43C8-9917-9E15-D451-72C794C107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1625887"/>
                  </p:ext>
                </p:extLst>
              </p:nvPr>
            </p:nvGraphicFramePr>
            <p:xfrm>
              <a:off x="1034845" y="1542246"/>
              <a:ext cx="10515600" cy="4168186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3310273295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178125678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4081083175"/>
                        </a:ext>
                      </a:extLst>
                    </a:gridCol>
                  </a:tblGrid>
                  <a:tr h="4903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Formula Name</a:t>
                          </a: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Expression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Description</a:t>
                          </a:r>
                          <a:endParaRPr lang="en-IN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22571807"/>
                      </a:ext>
                    </a:extLst>
                  </a:tr>
                  <a:tr h="122593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1. Min–Max Normalization</a:t>
                          </a: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𝑚𝑖𝑛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𝑚𝑖𝑛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ar-AE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Used to scale feature values between 0 and 1 during preprocessing.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6038033"/>
                      </a:ext>
                    </a:extLst>
                  </a:tr>
                  <a:tr h="159371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b="1"/>
                            <a:t>2. Pollution Severity Index (PSI)</a:t>
                          </a:r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                  PSI=∑Wi​/∑(Wi​×Qi​)​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Combines multiple parameters (pH, turbidity, solids, etc.) into a single pollution index, where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ar-AE"/>
                            <a:t>= </a:t>
                          </a:r>
                          <a:r>
                            <a:rPr lang="en-IN"/>
                            <a:t>weight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ar-AE"/>
                            <a:t>= </a:t>
                          </a:r>
                          <a:r>
                            <a:rPr lang="en-IN"/>
                            <a:t>quality rating.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674111"/>
                      </a:ext>
                    </a:extLst>
                  </a:tr>
                  <a:tr h="85815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3. Accuracy</a:t>
                          </a: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𝐴𝑐𝑐𝑢𝑟𝑎𝑐𝑦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𝑇𝑁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𝑇𝑁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Measures the percentage of correctly predicted samples.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46704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CF9F43C8-9917-9E15-D451-72C794C107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1625887"/>
                  </p:ext>
                </p:extLst>
              </p:nvPr>
            </p:nvGraphicFramePr>
            <p:xfrm>
              <a:off x="1034845" y="1542246"/>
              <a:ext cx="10515600" cy="4168186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3310273295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178125678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4081083175"/>
                        </a:ext>
                      </a:extLst>
                    </a:gridCol>
                  </a:tblGrid>
                  <a:tr h="4903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Formula Name</a:t>
                          </a: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Expression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Description</a:t>
                          </a:r>
                          <a:endParaRPr lang="en-IN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22571807"/>
                      </a:ext>
                    </a:extLst>
                  </a:tr>
                  <a:tr h="122593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1. Min–Max Normalization</a:t>
                          </a: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40796" r="-100174" b="-2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Used to scale feature values between 0 and 1 during preprocessing.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6038033"/>
                      </a:ext>
                    </a:extLst>
                  </a:tr>
                  <a:tr h="159371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b="1"/>
                            <a:t>2. Pollution Severity Index (PSI)</a:t>
                          </a:r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                  PSI=∑Wi​/∑(Wi​×Qi​)​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348" t="-108015" r="-348" b="-545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674111"/>
                      </a:ext>
                    </a:extLst>
                  </a:tr>
                  <a:tr h="85815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3. Accuracy</a:t>
                          </a: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386525" r="-100174" b="-1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Measures the percentage of correctly predicted samples.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46704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25272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2207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06D7E-4ACB-4B88-BBBB-CA0050D7F2E7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805305D-71AB-1CDE-69BE-5A5B993A6C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14994"/>
              </p:ext>
            </p:extLst>
          </p:nvPr>
        </p:nvGraphicFramePr>
        <p:xfrm>
          <a:off x="1288026" y="1533832"/>
          <a:ext cx="9704439" cy="4542504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234813">
                  <a:extLst>
                    <a:ext uri="{9D8B030D-6E8A-4147-A177-3AD203B41FA5}">
                      <a16:colId xmlns:a16="http://schemas.microsoft.com/office/drawing/2014/main" val="3457561444"/>
                    </a:ext>
                  </a:extLst>
                </a:gridCol>
                <a:gridCol w="3234813">
                  <a:extLst>
                    <a:ext uri="{9D8B030D-6E8A-4147-A177-3AD203B41FA5}">
                      <a16:colId xmlns:a16="http://schemas.microsoft.com/office/drawing/2014/main" val="803306848"/>
                    </a:ext>
                  </a:extLst>
                </a:gridCol>
                <a:gridCol w="3234813">
                  <a:extLst>
                    <a:ext uri="{9D8B030D-6E8A-4147-A177-3AD203B41FA5}">
                      <a16:colId xmlns:a16="http://schemas.microsoft.com/office/drawing/2014/main" val="1463826521"/>
                    </a:ext>
                  </a:extLst>
                </a:gridCol>
              </a:tblGrid>
              <a:tr h="322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Category</a:t>
                      </a:r>
                      <a:endParaRPr lang="en-IN" sz="16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Tool / Library Used</a:t>
                      </a:r>
                      <a:endParaRPr lang="en-IN" sz="16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Functionality</a:t>
                      </a:r>
                      <a:endParaRPr lang="en-IN" sz="1600"/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207661337"/>
                  </a:ext>
                </a:extLst>
              </a:tr>
              <a:tr h="812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Programming Language</a:t>
                      </a:r>
                      <a:endParaRPr lang="en-IN" sz="16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Python</a:t>
                      </a:r>
                      <a:endParaRPr lang="en-IN" sz="1600" dirty="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Main language used for data processing, model training, and evaluation.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03728484"/>
                  </a:ext>
                </a:extLst>
              </a:tr>
              <a:tr h="567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Development Environment</a:t>
                      </a:r>
                      <a:endParaRPr lang="en-IN" sz="16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Google Colab / Jupyter Notebook</a:t>
                      </a:r>
                      <a:endParaRPr lang="en-IN" sz="16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Used for coding, executing, and visualizing results.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246061386"/>
                  </a:ext>
                </a:extLst>
              </a:tr>
              <a:tr h="567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Libraries for Data Handling</a:t>
                      </a:r>
                      <a:endParaRPr lang="en-IN" sz="16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Pandas, NumPy</a:t>
                      </a:r>
                      <a:endParaRPr lang="en-IN" sz="16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Used for data cleaning, preprocessing, and manipulation.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500405457"/>
                  </a:ext>
                </a:extLst>
              </a:tr>
              <a:tr h="567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Machine Learning Libraries</a:t>
                      </a:r>
                      <a:endParaRPr lang="en-IN" sz="16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Scikit-learn, TensorFlow, Keras</a:t>
                      </a:r>
                      <a:endParaRPr lang="en-IN" sz="16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For model building, training, and performance evaluation.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40346125"/>
                  </a:ext>
                </a:extLst>
              </a:tr>
              <a:tr h="567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Visualization Tools</a:t>
                      </a:r>
                      <a:endParaRPr lang="en-IN" sz="16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Matplotlib, Seaborn</a:t>
                      </a:r>
                      <a:endParaRPr lang="en-IN" sz="16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Used to visualize correlations, graphs, and model accuracy.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448479150"/>
                  </a:ext>
                </a:extLst>
              </a:tr>
              <a:tr h="567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Dataset Source</a:t>
                      </a:r>
                      <a:endParaRPr lang="en-IN" sz="16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Kaggle / Public Water Quality Dataset</a:t>
                      </a:r>
                      <a:endParaRPr lang="en-US" sz="16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Provides physicochemical data like pH, turbidity, and solids.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627969689"/>
                  </a:ext>
                </a:extLst>
              </a:tr>
              <a:tr h="567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Algorithm Used</a:t>
                      </a:r>
                      <a:endParaRPr lang="en-IN" sz="16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GRU (Gated Recurrent Unit)</a:t>
                      </a:r>
                      <a:endParaRPr lang="en-IN" sz="16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Final model used for accurate and reliable water quality prediction.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942956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405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95E284-EEA9-4764-45D3-1D3B8C85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6FE-A55E-4754-BFBC-303C94FAE3B3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15042E-AC9C-2F50-A2F9-060AFB94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778E4-1E04-6388-EC41-A93987AB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15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F37843-EFEF-84DA-6DC1-48BF69E00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731519"/>
            <a:ext cx="10773544" cy="56248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3442BD-FCBD-C40D-C588-15328232D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29"/>
            <a:ext cx="4676037" cy="7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75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3DA727-4798-BCFF-A7FE-9FC0359B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6FE-A55E-4754-BFBC-303C94FAE3B3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4D4F1C-AA63-DCBA-EF1A-1E01E7E7B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E81B6-427B-7353-662B-54A0340B5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7FFDEC-2946-D934-608F-6EC3602E7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76037" cy="7193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2A1685-DE77-CB06-1216-5374898B9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92" y="719390"/>
            <a:ext cx="11809615" cy="523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042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5DA37B-1C6A-89B6-7821-EB8A5FE5D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6FE-A55E-4754-BFBC-303C94FAE3B3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6AC706-7065-CEF0-4586-13DFBE8BF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5759A-348B-B871-5824-EAC22F44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7C73ED-407E-21F6-6E9A-39AB07583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76037" cy="7193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96C27F-08F2-A7A1-80EA-A9AC1FBE0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54" y="791035"/>
            <a:ext cx="11554691" cy="527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27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2BE222-602A-90E1-DE97-7AE1E3FD1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6FE-A55E-4754-BFBC-303C94FAE3B3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E2D352-DCE2-9221-23EF-61D2D94A0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FA54A-4DF0-B949-04C5-E7D6A72A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9ECA86-8308-6622-5799-2A6D50DDF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82" y="881148"/>
            <a:ext cx="11693236" cy="50042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AB66AF-44F1-23FB-DCBD-532296269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929"/>
            <a:ext cx="4676037" cy="7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830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86BC21-2C5D-29A7-ABCF-E6F65961F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6FE-A55E-4754-BFBC-303C94FAE3B3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9393B7-9EB6-2FD6-1F86-3A92D722E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71235-A295-D990-61D5-CDCE3126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FF7692-9343-3776-EC7F-E6F78C4D4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09" y="1113905"/>
            <a:ext cx="11614266" cy="49953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74E407-B24D-198B-E4A5-123BB27E5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509"/>
            <a:ext cx="4676037" cy="7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820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2207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FC09-A81A-495E-A968-5B5326D311E5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84615AE-693A-FCAB-DB48-C4EECFB01F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2962010"/>
              </p:ext>
            </p:extLst>
          </p:nvPr>
        </p:nvGraphicFramePr>
        <p:xfrm>
          <a:off x="838200" y="1750143"/>
          <a:ext cx="10515600" cy="371419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08186385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53980827"/>
                    </a:ext>
                  </a:extLst>
                </a:gridCol>
              </a:tblGrid>
              <a:tr h="464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Software Implementation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Hardware Implementation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8057794"/>
                  </a:ext>
                </a:extLst>
              </a:tr>
              <a:tr h="812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Python used for model development and data processing.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Intel i5/i7 processor for efficient computation.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130751"/>
                  </a:ext>
                </a:extLst>
              </a:tr>
              <a:tr h="812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Google Colab used as the development and testing platform.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 GB RAM for smooth execution and model training.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5146060"/>
                  </a:ext>
                </a:extLst>
              </a:tr>
              <a:tr h="812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TensorFlow and Keras used for building and training the GRU model.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 GB HDD/SSD storage for datasets and results.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3071919"/>
                  </a:ext>
                </a:extLst>
              </a:tr>
              <a:tr h="812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Matplotlib and Pandas used for visualization and data handling.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GPU (optional) used to speed up deep learning model training.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9356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5373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CA1A-3BC3-639B-2451-7D31D81E8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710" y="983457"/>
            <a:ext cx="10515600" cy="66278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Implmentation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14BEA57C-DE01-D6B7-4112-70DBE24270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4096122"/>
              </p:ext>
            </p:extLst>
          </p:nvPr>
        </p:nvGraphicFramePr>
        <p:xfrm>
          <a:off x="838200" y="1835784"/>
          <a:ext cx="10515600" cy="360048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8790512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91200821"/>
                    </a:ext>
                  </a:extLst>
                </a:gridCol>
              </a:tblGrid>
              <a:tr h="450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Challenges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Solutions Applied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135364"/>
                  </a:ext>
                </a:extLst>
              </a:tr>
              <a:tr h="787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High cost and maintenance of physical IoT sensors.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Developed a </a:t>
                      </a:r>
                      <a:r>
                        <a:rPr lang="en-US" b="1"/>
                        <a:t>sensor-free, software-based system</a:t>
                      </a:r>
                      <a:r>
                        <a:rPr lang="en-US"/>
                        <a:t> using machine learning and open datasets.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71868"/>
                  </a:ext>
                </a:extLst>
              </a:tr>
              <a:tr h="787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Inconsistent and noisy water quality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Applied </a:t>
                      </a:r>
                      <a:r>
                        <a:rPr lang="en-US" b="1"/>
                        <a:t>data preprocessing and normalization</a:t>
                      </a:r>
                      <a:r>
                        <a:rPr lang="en-US"/>
                        <a:t> techniques to improve accuracy.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5735408"/>
                  </a:ext>
                </a:extLst>
              </a:tr>
              <a:tr h="787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Limited prediction accuracy in traditional models.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Implemented and optimized </a:t>
                      </a:r>
                      <a:r>
                        <a:rPr lang="en-US" b="1"/>
                        <a:t>GRU model</a:t>
                      </a:r>
                      <a:r>
                        <a:rPr lang="en-US"/>
                        <a:t>, achieving </a:t>
                      </a:r>
                      <a:r>
                        <a:rPr lang="en-US" b="1"/>
                        <a:t>92% accuracy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9934427"/>
                  </a:ext>
                </a:extLst>
              </a:tr>
              <a:tr h="787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Difficulty in combining multiple water parameters.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Designed a </a:t>
                      </a:r>
                      <a:r>
                        <a:rPr lang="en-US" b="1" dirty="0"/>
                        <a:t>Pollution Severity Index (PSI)</a:t>
                      </a:r>
                      <a:r>
                        <a:rPr lang="en-US" dirty="0"/>
                        <a:t> to integrate all parameters into a single score.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604425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7C870-F9E2-01D8-FC4C-2D3B5F848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A768-724D-4A42-AAE7-4DDECD59825D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2495E-6624-BD54-7431-3E4C7A773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91FCB-2EBC-75BD-6C0A-832764E3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2489A-5F08-9DE2-0FA8-4DE746737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89"/>
            <a:ext cx="4677428" cy="72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819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411761"/>
              </p:ext>
            </p:extLst>
          </p:nvPr>
        </p:nvGraphicFramePr>
        <p:xfrm>
          <a:off x="838200" y="1645808"/>
          <a:ext cx="10515600" cy="3666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6434909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229617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2283369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92067213"/>
                    </a:ext>
                  </a:extLst>
                </a:gridCol>
              </a:tblGrid>
              <a:tr h="74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Model Used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Accuracy (%)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Precision (%)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Recall (%)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569415"/>
                  </a:ext>
                </a:extLst>
              </a:tr>
              <a:tr h="569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Random Forest (RF)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3157151"/>
                  </a:ext>
                </a:extLst>
              </a:tr>
              <a:tr h="750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Feedforward Neural Network (FNN)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0257456"/>
                  </a:ext>
                </a:extLst>
              </a:tr>
              <a:tr h="850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Long Short-Term Memory (LSTM)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7968038"/>
                  </a:ext>
                </a:extLst>
              </a:tr>
              <a:tr h="750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Gated Recurrent Unit (GRU)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92%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91%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90%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04310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7722-5BD1-4C5F-9964-06D78C04A43E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46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468" y="1815163"/>
            <a:ext cx="4332106" cy="3887788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620" y="1957196"/>
            <a:ext cx="4525442" cy="3234389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DE6A-0F71-430D-8AEE-AC8F44C3362B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1     Batch No.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97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486234"/>
            <a:ext cx="5223147" cy="4102804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9558" y="1750141"/>
            <a:ext cx="4664241" cy="3696929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77048-AFED-4158-9E13-EE20B52A77EE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16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2072"/>
            <a:ext cx="10515600" cy="92597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F5F6-F5A1-4CB1-9F99-827B212ED64C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25</a:t>
            </a:fld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541B444-5784-920B-7AA3-401FE03303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2052" y="2057161"/>
            <a:ext cx="1030174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sensor-free, machine learning-based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water quality monitoring was successfully developed.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publicly available datasets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containing key parameters like pH, turbidity, solids, and chloramines.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models were tested —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Forest, FNN, LSTM, and GRU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to identify the most accurate one.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accuracy of 92%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proving to be reliable and efficient for water quality prediction.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approach offers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low-cost, scalable, and sustainable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solution for monitoring water quality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rural and resource-limited areas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Sustainable Development Goal 6 (Clean Water and Sanitation)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promoting affordable water monitoring methods.</a:t>
            </a:r>
          </a:p>
        </p:txBody>
      </p:sp>
    </p:spTree>
    <p:extLst>
      <p:ext uri="{BB962C8B-B14F-4D97-AF65-F5344CB8AC3E}">
        <p14:creationId xmlns:p14="http://schemas.microsoft.com/office/powerpoint/2010/main" val="3855720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2072"/>
            <a:ext cx="10515600" cy="92597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AC236-51CA-4BBC-9201-3EFDF45B85E0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26</a:t>
            </a:fld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619B0D6-DEA8-36A9-9404-3307F87C81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2805" y="1710721"/>
            <a:ext cx="10770996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Chen, Y., et al., “Machine Learning-Based Water Quality Classification Assessment,”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Water Journal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16, no. 5, pp. 1224–1235, 2024.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Paneru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A., et al., “Hybrid Deep Learning Models for Seasonal Water Quality Prediction,”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arXiv:2405.13456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Sangwan, A., and Bhardwaj, A., “Machine Learning Framework for Predicting Water Quality Classification,”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Water Practice &amp; Technology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19, no. 3, pp. 945–954, 2024.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Zhang, H., et al., “Interpretable ML-Based Quantification of Water Pollution Impact,”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Water Journal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17, no. 2, pp. 567–579, 2025.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Quevy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E., et al., “Open Sensing System for Low-Cost Water Quality Monitoring,”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Open Journal of the Industrial Electronics Society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4, pp. 210–220, 2023.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Li, J., et al., “Deep Learning Approaches for Predicting Surface Water Quality Parameters,”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Modelling &amp; Software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170, pp. 105457, 2023.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Kaur, R., et al., “IoT-Based Smart Water Quality Monitoring System Using Machine Learning,”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12, pp. 13245–13255, 2024.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Alvarado, M., et al., “Water Quality Prediction Using Recurrent Neural Networks,”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Science and Pollution Research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31, pp. 1230–1243, 2024.</a:t>
            </a:r>
          </a:p>
        </p:txBody>
      </p:sp>
    </p:spTree>
    <p:extLst>
      <p:ext uri="{BB962C8B-B14F-4D97-AF65-F5344CB8AC3E}">
        <p14:creationId xmlns:p14="http://schemas.microsoft.com/office/powerpoint/2010/main" val="1587826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2072"/>
            <a:ext cx="10515600" cy="92597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B8862-4073-433A-91F8-85EEA1C404D0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27</a:t>
            </a:fld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98D12BA-7618-4AB9-6372-D2129D9369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8425" y="1604357"/>
            <a:ext cx="10515599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Dutta, A., and Sharma, S., “Comparative Study of ML Algorithms for Water Quality Index Prediction,”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Water Science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14, no. 2, pp. 1–12, 2024.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Gupta, P., et al., “Real-Time Water Quality Analysis Using IoT and Cloud Computing,”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Computer Science and Applications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14, no. 4, pp. 42–48, 2023.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Rahman, M., et al., “Data-Driven Prediction of Water Quality Using Ensemble Learning,”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6, pp. 4542–4555, 2023.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Singh, N., and Kumar, R., “An Intelligent System for Water Quality Monitoring Using AI,”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Instrumentation and Measurement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73, pp. 1–9, 2024.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Patel, D., et al., “Implementation of GRU and LSTM for Water Quality Forecasting,”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Computers and Electronics in Agriculture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213, pp. 108022, 2024.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Bhattacharya, T., et al., “Water Pollution Prediction Using Machine Learning and Statistical Models,”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14, no. 7, pp. 1002–1012, 2025.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Ibrahim, H., et al., “IoT and Machine Learning Based Water Quality Monitoring System,”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Sensors Journal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23, no. 9, pp. 11455–11463, 2023.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Roy, A., et al., “Hybrid CNN–GRU Model for River Water Quality Prediction,”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 of Environmental Management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355, pp. 120212, 2024.</a:t>
            </a:r>
          </a:p>
        </p:txBody>
      </p:sp>
    </p:spTree>
    <p:extLst>
      <p:ext uri="{BB962C8B-B14F-4D97-AF65-F5344CB8AC3E}">
        <p14:creationId xmlns:p14="http://schemas.microsoft.com/office/powerpoint/2010/main" val="2103713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2072"/>
            <a:ext cx="10515600" cy="92597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and Answers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466134"/>
            <a:ext cx="609955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We’d now like to open the floor for any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questions or feedback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2EDBB-F9BE-4B30-A5FE-95D451FFC354}" type="datetime1">
              <a:rPr lang="en-US" smtClean="0"/>
              <a:t>12/4/2025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83D278-8395-7A8B-EE05-8ADA5D0C0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138" y="1833403"/>
            <a:ext cx="3645724" cy="151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8438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2072"/>
            <a:ext cx="10515600" cy="92597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9177" y="2246549"/>
            <a:ext cx="987364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sz="1800" dirty="0"/>
            </a:br>
            <a:endParaRPr 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/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   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CDC7A-BDF3-4D15-A400-ECC26A6DD6E4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1     Batch No.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7D5029-51F9-75A1-8CDA-0E76D5AC89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272116" y="2417389"/>
            <a:ext cx="3647768" cy="152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799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</TotalTime>
  <Words>2803</Words>
  <Application>Microsoft Office PowerPoint</Application>
  <PresentationFormat>Widescreen</PresentationFormat>
  <Paragraphs>339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Department of Computer Science Engineering</vt:lpstr>
      <vt:lpstr>OUTLINE</vt:lpstr>
      <vt:lpstr>Abstract</vt:lpstr>
      <vt:lpstr>Introduction</vt:lpstr>
      <vt:lpstr>Literature Survey</vt:lpstr>
      <vt:lpstr>Literature Survey</vt:lpstr>
      <vt:lpstr>Research Gaps</vt:lpstr>
      <vt:lpstr>                                                     Research Gaps</vt:lpstr>
      <vt:lpstr>Problem Statements</vt:lpstr>
      <vt:lpstr>Objectives</vt:lpstr>
      <vt:lpstr>Flow Chart</vt:lpstr>
      <vt:lpstr>Methodology</vt:lpstr>
      <vt:lpstr>Methodology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</vt:lpstr>
      <vt:lpstr>                                             Implmentation</vt:lpstr>
      <vt:lpstr>Results &amp; Analysis</vt:lpstr>
      <vt:lpstr>Results &amp; Analysis</vt:lpstr>
      <vt:lpstr>Results &amp; Analysis</vt:lpstr>
      <vt:lpstr>Conclusion &amp; Future Scope</vt:lpstr>
      <vt:lpstr>References</vt:lpstr>
      <vt:lpstr>References</vt:lpstr>
      <vt:lpstr>Questions and Answers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MyLaptop HP</dc:creator>
  <cp:lastModifiedBy>keerthisree A</cp:lastModifiedBy>
  <cp:revision>40</cp:revision>
  <dcterms:created xsi:type="dcterms:W3CDTF">2025-11-08T07:07:45Z</dcterms:created>
  <dcterms:modified xsi:type="dcterms:W3CDTF">2025-12-04T17:00:04Z</dcterms:modified>
</cp:coreProperties>
</file>
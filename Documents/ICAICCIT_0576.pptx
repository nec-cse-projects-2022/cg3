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82" r:id="rId4"/>
    <p:sldId id="264" r:id="rId5"/>
    <p:sldId id="265" r:id="rId6"/>
    <p:sldId id="266" r:id="rId7"/>
    <p:sldId id="267" r:id="rId8"/>
    <p:sldId id="268" r:id="rId9"/>
    <p:sldId id="269" r:id="rId10"/>
    <p:sldId id="283" r:id="rId11"/>
    <p:sldId id="284" r:id="rId12"/>
    <p:sldId id="285" r:id="rId13"/>
    <p:sldId id="270" r:id="rId14"/>
    <p:sldId id="271" r:id="rId15"/>
    <p:sldId id="279" r:id="rId16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7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23" name="Google Shape;52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71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19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1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33E03D-5646-4BB9-97EE-65AF4918EB1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5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5720C-F6B3-4220-87B0-0FA00A726951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66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C3B025-31CE-43C1-9ED7-9711BE3F2086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60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76481-AA54-4534-97AB-338AC751B4BC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10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CD541A-65B2-46BB-9309-23148CB2B450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15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39B45A5-868B-4945-A013-D3E243657ABE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88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0D8C4-325E-4810-862B-17092DE1D57B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0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6302A-3273-42D5-8E56-869DEC34883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97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fld id="{EFAA32E4-3511-4E81-81BF-24CAFA322D50}" type="slidenum">
              <a:rPr lang="en-GB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3" r:id="rId4"/>
    <p:sldLayoutId id="2147483714" r:id="rId5"/>
    <p:sldLayoutId id="2147483719" r:id="rId6"/>
    <p:sldLayoutId id="2147483716" r:id="rId7"/>
    <p:sldLayoutId id="214748371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https://aiccit2023.vercel.app/_next/image?url=/_next/static/media/mrlogo1.084c9a07.png&amp;w=640&amp;q=7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13" y="1470025"/>
            <a:ext cx="2343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oogle Shape;56;p1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454778"/>
            <a:ext cx="2208212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oogle Shape;60;p13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1446213"/>
            <a:ext cx="24526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oogle Shape;62;p13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646488"/>
            <a:ext cx="2206625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63;p13"/>
          <p:cNvSpPr txBox="1">
            <a:spLocks noChangeArrowheads="1"/>
          </p:cNvSpPr>
          <p:nvPr/>
        </p:nvSpPr>
        <p:spPr bwMode="auto">
          <a:xfrm>
            <a:off x="666750" y="94622"/>
            <a:ext cx="7175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ICAICCIT-2025, 3</a:t>
            </a:r>
            <a:r>
              <a:rPr lang="en-IN" altLang="en-US" b="1" baseline="30000" dirty="0"/>
              <a:t>rd</a:t>
            </a:r>
            <a:r>
              <a:rPr lang="en-IN" altLang="en-US" b="1" dirty="0"/>
              <a:t> International conference on Advances in Computing, Communication and Information Technology,                                                                technically Co-Sponsored by IEEE Delhi SECTION                                                                (IEEE record no # 68829)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on 31</a:t>
            </a:r>
            <a:r>
              <a:rPr lang="en-IN" altLang="en-US" b="1" baseline="30000" dirty="0"/>
              <a:t>st</a:t>
            </a:r>
            <a:r>
              <a:rPr lang="en-IN" altLang="en-US" b="1" dirty="0"/>
              <a:t> Oct &amp; 1st Nov. 2025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1600" dirty="0"/>
          </a:p>
        </p:txBody>
      </p:sp>
      <p:pic>
        <p:nvPicPr>
          <p:cNvPr id="4103" name="Google Shape;65;p1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3667125"/>
            <a:ext cx="23399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Google Shape;66;p13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1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1160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4" t="69373" r="41730" b="23227"/>
          <a:stretch>
            <a:fillRect/>
          </a:stretch>
        </p:blipFill>
        <p:spPr bwMode="auto">
          <a:xfrm>
            <a:off x="287338" y="2544763"/>
            <a:ext cx="1331912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6" t="69836" r="29318" b="23227"/>
          <a:stretch>
            <a:fillRect/>
          </a:stretch>
        </p:blipFill>
        <p:spPr bwMode="auto">
          <a:xfrm>
            <a:off x="1722438" y="2674938"/>
            <a:ext cx="1206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3" t="70760" r="52966" b="23227"/>
          <a:stretch>
            <a:fillRect/>
          </a:stretch>
        </p:blipFill>
        <p:spPr bwMode="auto">
          <a:xfrm>
            <a:off x="7586663" y="2705100"/>
            <a:ext cx="15573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" descr="mr_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6" y="2690408"/>
            <a:ext cx="23844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4" descr="https://aiccit2023.vercel.app/images/partners/infosis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2788278"/>
            <a:ext cx="19050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3646488"/>
            <a:ext cx="25812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20" descr="mr_logo"/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79375"/>
            <a:ext cx="187166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614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9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150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615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15"/>
          <p:cNvSpPr txBox="1">
            <a:spLocks noChangeArrowheads="1"/>
          </p:cNvSpPr>
          <p:nvPr/>
        </p:nvSpPr>
        <p:spPr bwMode="auto">
          <a:xfrm>
            <a:off x="382403" y="1021777"/>
            <a:ext cx="8198884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r>
              <a:rPr lang="en-US" sz="1800" b="1" dirty="0">
                <a:latin typeface="Arial Black" panose="020B0A04020102020204" pitchFamily="34" charset="0"/>
              </a:rPr>
              <a:t>pH and Turbidity: Multi-Parameter Water Quality Monitoring Using Edge-Integrated Sensing Platforms</a:t>
            </a:r>
            <a:endParaRPr lang="en-IN" sz="1800" b="1" dirty="0">
              <a:latin typeface="Arial Black" panose="020B0A04020102020204" pitchFamily="34" charset="0"/>
            </a:endParaRPr>
          </a:p>
          <a:p>
            <a:pPr algn="ctr" eaLnBrk="1" hangingPunct="1">
              <a:buNone/>
            </a:pPr>
            <a:r>
              <a:rPr lang="en-US" b="1" dirty="0"/>
              <a:t>Paper ID </a:t>
            </a:r>
            <a:r>
              <a:rPr lang="en-US" dirty="0"/>
              <a:t>: ICAICCIT_00576</a:t>
            </a:r>
            <a:endParaRPr lang="en-IN" altLang="en-US" sz="1800" b="1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1600" dirty="0"/>
              <a:t>                                                                                    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sz="1600" b="1" dirty="0"/>
              <a:t>Presented by 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b="1" dirty="0"/>
              <a:t>Keerthisree </a:t>
            </a:r>
            <a:r>
              <a:rPr lang="en-IN" altLang="en-US" b="1" dirty="0" err="1"/>
              <a:t>Alajangi</a:t>
            </a:r>
            <a:endParaRPr lang="en-IN" altLang="en-US" b="1" dirty="0"/>
          </a:p>
        </p:txBody>
      </p:sp>
      <p:pic>
        <p:nvPicPr>
          <p:cNvPr id="615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466454"/>
            <a:ext cx="9144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586" y="212725"/>
            <a:ext cx="213042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813777" y="1840269"/>
            <a:ext cx="4325293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b="1" dirty="0"/>
              <a:t>Authors Name &amp; Affiliation</a:t>
            </a:r>
          </a:p>
          <a:p>
            <a:pPr eaLnBrk="1" hangingPunct="1">
              <a:buNone/>
            </a:pPr>
            <a:r>
              <a:rPr lang="en-US" sz="1300" b="1" dirty="0"/>
              <a:t>Suneetha Mothe</a:t>
            </a:r>
          </a:p>
          <a:p>
            <a:pPr eaLnBrk="1" hangingPunct="1">
              <a:buNone/>
            </a:pPr>
            <a:r>
              <a:rPr lang="en-US" sz="1200" dirty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/>
              <a:t>Keerthisree Alajangi</a:t>
            </a:r>
          </a:p>
          <a:p>
            <a:pPr eaLnBrk="1" hangingPunct="1">
              <a:buNone/>
            </a:pPr>
            <a:r>
              <a:rPr lang="en-US" sz="1200" dirty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/>
              <a:t>Thanmai Katari</a:t>
            </a:r>
          </a:p>
          <a:p>
            <a:pPr eaLnBrk="1" hangingPunct="1">
              <a:buNone/>
            </a:pPr>
            <a:r>
              <a:rPr lang="en-US" sz="1200" dirty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/>
              <a:t>Vineela Sonti</a:t>
            </a:r>
          </a:p>
          <a:p>
            <a:pPr eaLnBrk="1" hangingPunct="1">
              <a:buNone/>
            </a:pPr>
            <a:r>
              <a:rPr lang="en-US" sz="1200" dirty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/>
              <a:t>Madhavi Karanam</a:t>
            </a:r>
          </a:p>
          <a:p>
            <a:pPr eaLnBrk="1" hangingPunct="1">
              <a:buNone/>
            </a:pPr>
            <a:r>
              <a:rPr lang="en-US" sz="1200" dirty="0"/>
              <a:t>Dept. Of Computer Science and Engineering, GRIET</a:t>
            </a:r>
          </a:p>
          <a:p>
            <a:pPr eaLnBrk="1" hangingPunct="1">
              <a:buNone/>
            </a:pPr>
            <a:r>
              <a:rPr lang="en-US" sz="1300" b="1" dirty="0" err="1"/>
              <a:t>Reddygari</a:t>
            </a:r>
            <a:r>
              <a:rPr lang="en-US" sz="1300" b="1" dirty="0"/>
              <a:t> Pallavi Reddy</a:t>
            </a:r>
          </a:p>
          <a:p>
            <a:pPr eaLnBrk="1" hangingPunct="1">
              <a:buNone/>
            </a:pPr>
            <a:r>
              <a:rPr lang="en-US" sz="1200" dirty="0"/>
              <a:t>Dept. Of ECE, G. Narayanamma Institute of Technology &amp; Science </a:t>
            </a:r>
            <a:endParaRPr lang="en-IN" sz="1200" dirty="0"/>
          </a:p>
          <a:p>
            <a:pPr eaLnBrk="1" hangingPunct="1">
              <a:buNone/>
            </a:pPr>
            <a:endParaRPr lang="en-US" sz="1200" b="1" dirty="0"/>
          </a:p>
          <a:p>
            <a:pPr eaLnBrk="1" hangingPunct="1">
              <a:buNone/>
            </a:pPr>
            <a:endParaRPr lang="en-US" b="1" dirty="0"/>
          </a:p>
          <a:p>
            <a:pPr eaLnBrk="1" hangingPunct="1">
              <a:buNone/>
            </a:pPr>
            <a:endParaRPr lang="en-US" altLang="en-US" b="1" dirty="0"/>
          </a:p>
        </p:txBody>
      </p:sp>
      <p:pic>
        <p:nvPicPr>
          <p:cNvPr id="6156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819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7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198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19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767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465138" y="1541463"/>
            <a:ext cx="639286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Introduction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Objectives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Literature Review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Methodology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Result &amp; Discussion 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Conclusion &amp; Future Scope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References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Problem Statements</a:t>
            </a:r>
          </a:p>
        </p:txBody>
      </p:sp>
      <p:sp>
        <p:nvSpPr>
          <p:cNvPr id="8202" name="TextBox 12"/>
          <p:cNvSpPr txBox="1">
            <a:spLocks noChangeArrowheads="1"/>
          </p:cNvSpPr>
          <p:nvPr/>
        </p:nvSpPr>
        <p:spPr bwMode="auto">
          <a:xfrm>
            <a:off x="460375" y="1123950"/>
            <a:ext cx="4870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2000" dirty="0"/>
              <a:t>  Contents</a:t>
            </a:r>
            <a:endParaRPr lang="en-US" altLang="en-US" sz="2000" dirty="0"/>
          </a:p>
        </p:txBody>
      </p:sp>
      <p:pic>
        <p:nvPicPr>
          <p:cNvPr id="8203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46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690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1700" y="992258"/>
            <a:ext cx="8520600" cy="57270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00" y="1566802"/>
            <a:ext cx="779477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2" indent="0" algn="just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Water pollution is a major global problem affecting health and the environment. Traditional water monitoring systems use costly sensors, making them hard to use in rural areas. This project introduces a software-based system that uses machine learning to check water quality without sensors. It combines parameters like pH and turbidity to create a Pollution Severity Index (PSI). The GRU model gave the best results with 92% accuracy, proving it is an effective and low-cost solution.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38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3388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Problem Statements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7026" y="1614482"/>
            <a:ext cx="697376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 water quality systems are </a:t>
            </a:r>
            <a:r>
              <a:rPr lang="en-US" b="1" dirty="0"/>
              <a:t>hardware-dependent</a:t>
            </a:r>
            <a:r>
              <a:rPr lang="en-US" dirty="0"/>
              <a:t> and </a:t>
            </a:r>
            <a:r>
              <a:rPr lang="en-US" b="1" dirty="0"/>
              <a:t>costly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focus on only a </a:t>
            </a:r>
            <a:r>
              <a:rPr lang="en-US" b="1" dirty="0"/>
              <a:t>few parameters</a:t>
            </a:r>
            <a:r>
              <a:rPr lang="en-US" dirty="0"/>
              <a:t> like pH or turbidity.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</a:t>
            </a:r>
            <a:r>
              <a:rPr lang="en-US" b="1" dirty="0"/>
              <a:t>scalability</a:t>
            </a:r>
            <a:r>
              <a:rPr lang="en-US" dirty="0"/>
              <a:t> for rural and remote areas with poor connectivity.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Maintenance of sensors and IoT devices is </a:t>
            </a:r>
            <a:r>
              <a:rPr lang="en-US" b="1" dirty="0"/>
              <a:t>time-consuming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need for a </a:t>
            </a:r>
            <a:r>
              <a:rPr lang="en-US" b="1" dirty="0"/>
              <a:t>smart, affordable, and easy-to-deploy</a:t>
            </a:r>
            <a:r>
              <a:rPr lang="en-US" dirty="0"/>
              <a:t> 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Aim: Develop a </a:t>
            </a:r>
            <a:r>
              <a:rPr lang="en-US" b="1" dirty="0"/>
              <a:t>sensor-free model</a:t>
            </a:r>
            <a:r>
              <a:rPr lang="en-US" dirty="0"/>
              <a:t> that predicts water quality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0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1582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41971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Objectives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4725" y="1614671"/>
            <a:ext cx="788245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design a multi-parameter water quality classification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develop a Pollution Severity Index (PSI) combining major water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train and compare machine learning and deep learning models: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Random Forest (RF)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Feedforward Neural Network (FNN)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Long Short-Term Memory (LSTM)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Gated Recurrent Unit (GRU)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identify the best-performing model for accuracy and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a low-cost, scalable, and data-driven solution suitable for all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5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3391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6938" y="982645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Literature Review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457012"/>
            <a:ext cx="81869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D1DB86-0D3A-6C4A-D6E1-D7CDA5167EA3}"/>
              </a:ext>
            </a:extLst>
          </p:cNvPr>
          <p:cNvSpPr txBox="1"/>
          <p:nvPr/>
        </p:nvSpPr>
        <p:spPr>
          <a:xfrm>
            <a:off x="644332" y="1595237"/>
            <a:ext cx="70457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Xia et al. (2024)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LSTM for river water analysis but faced poor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Paneru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(2024)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Developed CNN–RNN models for Nepal’s river but had limited regional scope.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Sangwan &amp; Bhardwaj (2024)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ML models for WQI but required hardware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Zhang et al. (2025)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Applied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SHAP for groundwater but lacked low-cost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show good accuracy but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cost and limited interpretability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model focuses on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sensor-free, low-cost, and scalable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analysis using open data.</a:t>
            </a:r>
          </a:p>
        </p:txBody>
      </p:sp>
    </p:spTree>
    <p:extLst>
      <p:ext uri="{BB962C8B-B14F-4D97-AF65-F5344CB8AC3E}">
        <p14:creationId xmlns:p14="http://schemas.microsoft.com/office/powerpoint/2010/main" val="100930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793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22911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129843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FBD7916-11DD-6A54-C117-C92CF389C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1" y="1875252"/>
            <a:ext cx="84518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public water datasets (~3000 samples) with parameters like pH, turbidity, chloramines, solids, conductivity, and organic carbon.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values, removed outliers, and normalized data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Min–Max Scaling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ratio-based, polynomial, and interaction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 Component Analysis (PCA)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dimensionality.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RF, FNN, LSTM, GRU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80:20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train-test split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k-fold 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models based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Recall, and F1-score.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edge-computing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implementation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low-resource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51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5990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71735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Result &amp; Discussion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4763" y="5059989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316" y="1773417"/>
            <a:ext cx="83678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GRU Model</a:t>
            </a:r>
            <a:r>
              <a:rPr lang="en-US" dirty="0"/>
              <a:t> performed best among all tested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</a:t>
            </a:r>
            <a:r>
              <a:rPr lang="en-US" b="1" dirty="0"/>
              <a:t>92% accuracy</a:t>
            </a:r>
            <a:r>
              <a:rPr lang="en-US" dirty="0"/>
              <a:t>, </a:t>
            </a:r>
            <a:r>
              <a:rPr lang="en-US" b="1" dirty="0"/>
              <a:t>0.89 recall</a:t>
            </a:r>
            <a:r>
              <a:rPr lang="en-US" dirty="0"/>
              <a:t>, and </a:t>
            </a:r>
            <a:r>
              <a:rPr lang="en-US" b="1" dirty="0"/>
              <a:t>0.895 F1-score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 generalization gap</a:t>
            </a:r>
            <a:r>
              <a:rPr lang="en-US" dirty="0"/>
              <a:t> – less overfitting, better real-world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Forest and LSTM showed good results but higher variance.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GRU captured </a:t>
            </a:r>
            <a:r>
              <a:rPr lang="en-US" b="1" dirty="0"/>
              <a:t>temporal and nonlinear relations</a:t>
            </a:r>
            <a:r>
              <a:rPr lang="en-US" dirty="0"/>
              <a:t>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model’s performance proves it can </a:t>
            </a:r>
            <a:r>
              <a:rPr lang="en-US" b="1" dirty="0"/>
              <a:t>replace expensive sensors</a:t>
            </a:r>
            <a:r>
              <a:rPr lang="en-US" dirty="0"/>
              <a:t> with a </a:t>
            </a:r>
            <a:r>
              <a:rPr lang="en-US" b="1" dirty="0"/>
              <a:t>data-driven approach.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deployed on </a:t>
            </a:r>
            <a:r>
              <a:rPr lang="en-US" b="1" dirty="0"/>
              <a:t>edge or cloud platforms</a:t>
            </a:r>
            <a:r>
              <a:rPr lang="en-US" dirty="0"/>
              <a:t> for real-time water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19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A9F6-5D68-0CC7-B419-BB3B1C7C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>
            <a:extLst>
              <a:ext uri="{FF2B5EF4-FFF2-40B4-BE49-F238E27FC236}">
                <a16:creationId xmlns:a16="http://schemas.microsoft.com/office/drawing/2014/main" id="{51F20D51-073F-A985-DB84-298008BD0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D6890494-D6E0-AFB7-8A62-3EC266BA7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>
            <a:extLst>
              <a:ext uri="{FF2B5EF4-FFF2-40B4-BE49-F238E27FC236}">
                <a16:creationId xmlns:a16="http://schemas.microsoft.com/office/drawing/2014/main" id="{7DD41417-6BA1-3230-BCD0-59A01268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>
            <a:extLst>
              <a:ext uri="{FF2B5EF4-FFF2-40B4-BE49-F238E27FC236}">
                <a16:creationId xmlns:a16="http://schemas.microsoft.com/office/drawing/2014/main" id="{07EA1693-F92C-1960-E564-9762AB5B1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0D00B9C7-706F-D3B1-5C54-307A597D4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>
            <a:extLst>
              <a:ext uri="{FF2B5EF4-FFF2-40B4-BE49-F238E27FC236}">
                <a16:creationId xmlns:a16="http://schemas.microsoft.com/office/drawing/2014/main" id="{E87B8C58-CC19-0875-38F7-AA0318158ABC}"/>
              </a:ext>
            </a:extLst>
          </p:cNvPr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4EA38A-73E7-C2C1-9A67-409C51C02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9659" y="3025140"/>
            <a:ext cx="597401" cy="104775"/>
          </a:xfrm>
        </p:spPr>
        <p:txBody>
          <a:bodyPr>
            <a:normAutofit fontScale="25000" lnSpcReduction="20000"/>
          </a:bodyPr>
          <a:lstStyle/>
          <a:p>
            <a:endParaRPr lang="en-US" sz="5400" b="1" dirty="0">
              <a:solidFill>
                <a:schemeClr val="tx1"/>
              </a:solidFill>
              <a:latin typeface="Brush Script MT" panose="030608020404060703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BEE51-2A2B-CC58-4A14-E559052AF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79" y="995140"/>
            <a:ext cx="3733801" cy="3288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47D95F-D048-3893-D842-7210C48234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420" y="995140"/>
            <a:ext cx="3981575" cy="312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7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4AEE-9519-E336-F27E-51D35EF0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>
            <a:extLst>
              <a:ext uri="{FF2B5EF4-FFF2-40B4-BE49-F238E27FC236}">
                <a16:creationId xmlns:a16="http://schemas.microsoft.com/office/drawing/2014/main" id="{1372961C-DAF1-7814-6BB8-145E8F6E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74328E37-059D-2156-7A7E-806E1352F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>
            <a:extLst>
              <a:ext uri="{FF2B5EF4-FFF2-40B4-BE49-F238E27FC236}">
                <a16:creationId xmlns:a16="http://schemas.microsoft.com/office/drawing/2014/main" id="{F38E2C8A-0512-99C0-A588-5E078A56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>
            <a:extLst>
              <a:ext uri="{FF2B5EF4-FFF2-40B4-BE49-F238E27FC236}">
                <a16:creationId xmlns:a16="http://schemas.microsoft.com/office/drawing/2014/main" id="{2CCE2336-78EA-CBB5-56D6-234A692AE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6789C273-942A-543A-05FA-D54CD48D9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>
            <a:extLst>
              <a:ext uri="{FF2B5EF4-FFF2-40B4-BE49-F238E27FC236}">
                <a16:creationId xmlns:a16="http://schemas.microsoft.com/office/drawing/2014/main" id="{D258031C-A192-4079-45AB-367E7085E9E2}"/>
              </a:ext>
            </a:extLst>
          </p:cNvPr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E11BAA-FE33-E180-7457-8B2C2394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821180" y="2346958"/>
            <a:ext cx="1035136" cy="104775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BA569F-0C56-6A04-D821-6193C279F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548" y="1155926"/>
            <a:ext cx="3795432" cy="2810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B5FE37-81E1-FCD5-0DCB-5548632253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022" y="1088325"/>
            <a:ext cx="3691785" cy="294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9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0B09-7CBF-5F2A-9211-61568329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>
            <a:extLst>
              <a:ext uri="{FF2B5EF4-FFF2-40B4-BE49-F238E27FC236}">
                <a16:creationId xmlns:a16="http://schemas.microsoft.com/office/drawing/2014/main" id="{28F43F42-CA6F-452F-20CE-EB46794D8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D4DB765D-DF98-A58B-3BA6-EFFBABC7A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>
            <a:extLst>
              <a:ext uri="{FF2B5EF4-FFF2-40B4-BE49-F238E27FC236}">
                <a16:creationId xmlns:a16="http://schemas.microsoft.com/office/drawing/2014/main" id="{4A4D01A5-D1ED-2D5E-409B-7DD266D04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>
            <a:extLst>
              <a:ext uri="{FF2B5EF4-FFF2-40B4-BE49-F238E27FC236}">
                <a16:creationId xmlns:a16="http://schemas.microsoft.com/office/drawing/2014/main" id="{6003E808-37E4-18E1-F066-C450E3824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027D8326-EAE8-CA83-C6C2-C049DB7CF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>
            <a:extLst>
              <a:ext uri="{FF2B5EF4-FFF2-40B4-BE49-F238E27FC236}">
                <a16:creationId xmlns:a16="http://schemas.microsoft.com/office/drawing/2014/main" id="{69575D93-76B8-430B-2676-39F437DCC3B5}"/>
              </a:ext>
            </a:extLst>
          </p:cNvPr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DDFE142-DEBD-4ABC-CF11-15CB76126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2095498" y="2158364"/>
            <a:ext cx="1463041" cy="104775"/>
          </a:xfrm>
        </p:spPr>
        <p:txBody>
          <a:bodyPr>
            <a:normAutofit fontScale="25000" lnSpcReduction="20000"/>
          </a:bodyPr>
          <a:lstStyle/>
          <a:p>
            <a:endParaRPr lang="en-US" sz="5400" b="1" dirty="0">
              <a:solidFill>
                <a:schemeClr val="tx1"/>
              </a:solidFill>
              <a:latin typeface="Brush Script MT" panose="030608020404060703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0340EA-D501-6FA9-423B-89160C06FB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" y="1295400"/>
            <a:ext cx="4244340" cy="2842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E0647-B568-9372-2674-7E2DDC8D31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2124" y="1427844"/>
            <a:ext cx="3857624" cy="25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6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41388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Conclusion &amp; Future Scope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BB9A225-7A5C-F55E-7F22-F4A20C001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8516" y="1535118"/>
            <a:ext cx="775885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multi-parameter water quality monitoring framework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ML and open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works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physical sensors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cost and complexity.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best balance between performance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SDG-6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providing an affordable, scalable solution for clean water access.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biological and microbial water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IoT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mobile/web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public and government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adapt the model for different regions and water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510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9422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-4762" y="5028747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02EF76C-1F88-815B-356F-9AF518DF9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5687" y="1666763"/>
            <a:ext cx="60388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Chen et al.,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Learning-Based Water Quality Classification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Paneru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Deep Learning for Seasonal Water Quality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Sangwan &amp; Bhardwaj,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Framework for Predicting Water Quality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Zhang et al.,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 ML for Groundwater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Quevy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Smart Buoy for Water Quality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Potability Dataset –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(Aditya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Kadiwal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23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2549659" y="2026480"/>
            <a:ext cx="6021738" cy="1471412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Brush Script MT" panose="030608020404060703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9290327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850</Words>
  <Application>Microsoft Office PowerPoint</Application>
  <PresentationFormat>On-screen Show (16:9)</PresentationFormat>
  <Paragraphs>99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Brush Script MT</vt:lpstr>
      <vt:lpstr>Wingdings</vt:lpstr>
      <vt:lpstr>Simple Light</vt:lpstr>
      <vt:lpstr>PowerPoint Presentation</vt:lpstr>
      <vt:lpstr>PowerPoint Presentation</vt:lpstr>
      <vt:lpstr>PowerPoint Presentation</vt:lpstr>
      <vt:lpstr>Introduction</vt:lpstr>
      <vt:lpstr>Problem Statements</vt:lpstr>
      <vt:lpstr>Objectives</vt:lpstr>
      <vt:lpstr>Literature Review</vt:lpstr>
      <vt:lpstr>Methodology</vt:lpstr>
      <vt:lpstr>Result &amp; Discussion</vt:lpstr>
      <vt:lpstr>PowerPoint Presentation</vt:lpstr>
      <vt:lpstr>PowerPoint Presentation</vt:lpstr>
      <vt:lpstr>PowerPoint Presentation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keerthisree A</cp:lastModifiedBy>
  <cp:revision>60</cp:revision>
  <dcterms:modified xsi:type="dcterms:W3CDTF">2025-11-01T04:47:19Z</dcterms:modified>
</cp:coreProperties>
</file>